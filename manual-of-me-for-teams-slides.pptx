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9CB2B6-40A6-4166-B75C-C2706BF2D702}" v="1" dt="2026-07-15T15:22:04.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54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Hoad" userId="9687d36d-335a-428c-bfdf-2aa5f473cc7a" providerId="ADAL" clId="{28AE1053-9636-418A-B547-DE2514D0AE31}"/>
    <pc:docChg chg="addSld modSld">
      <pc:chgData name="William Hoad" userId="9687d36d-335a-428c-bfdf-2aa5f473cc7a" providerId="ADAL" clId="{28AE1053-9636-418A-B547-DE2514D0AE31}" dt="2026-07-15T15:22:04.764" v="0"/>
      <pc:docMkLst>
        <pc:docMk/>
      </pc:docMkLst>
      <pc:sldChg chg="add">
        <pc:chgData name="William Hoad" userId="9687d36d-335a-428c-bfdf-2aa5f473cc7a" providerId="ADAL" clId="{28AE1053-9636-418A-B547-DE2514D0AE31}" dt="2026-07-15T15:22:04.764" v="0"/>
        <pc:sldMkLst>
          <pc:docMk/>
          <pc:sldMk cId="779285318"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DB2A-4AC1-9688-450F-844703743D8A}"/>
              </a:ext>
            </a:extLst>
          </p:cNvPr>
          <p:cNvSpPr>
            <a:spLocks noGrp="1"/>
          </p:cNvSpPr>
          <p:nvPr>
            <p:ph type="ctrTitle"/>
          </p:nvPr>
        </p:nvSpPr>
        <p:spPr>
          <a:xfrm>
            <a:off x="1238250" y="1122363"/>
            <a:ext cx="7429500" cy="2387600"/>
          </a:xfrm>
        </p:spPr>
        <p:txBody>
          <a:bodyPr anchor="b"/>
          <a:lstStyle>
            <a:lvl1pPr algn="ctr">
              <a:defRPr sz="4875"/>
            </a:lvl1pPr>
          </a:lstStyle>
          <a:p>
            <a:r>
              <a:rPr lang="en-GB"/>
              <a:t>Click to edit Master title style</a:t>
            </a:r>
          </a:p>
        </p:txBody>
      </p:sp>
      <p:sp>
        <p:nvSpPr>
          <p:cNvPr id="3" name="Subtitle 2">
            <a:extLst>
              <a:ext uri="{FF2B5EF4-FFF2-40B4-BE49-F238E27FC236}">
                <a16:creationId xmlns:a16="http://schemas.microsoft.com/office/drawing/2014/main" id="{71784A6D-1376-CFBB-FC01-969702668867}"/>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GB"/>
              <a:t>Click to edit Master subtitle style</a:t>
            </a:r>
          </a:p>
        </p:txBody>
      </p:sp>
      <p:sp>
        <p:nvSpPr>
          <p:cNvPr id="4" name="Date Placeholder 3">
            <a:extLst>
              <a:ext uri="{FF2B5EF4-FFF2-40B4-BE49-F238E27FC236}">
                <a16:creationId xmlns:a16="http://schemas.microsoft.com/office/drawing/2014/main" id="{310DEAD3-D912-6CB8-6886-B9E09CBF570A}"/>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DA94D1E2-2615-A5BA-E070-B93C61D395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20BCFE-54FF-7A27-E381-E68B9C39AA18}"/>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2612230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692AC-FD1B-32F8-304D-A956EADD56B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152C498-B9D9-4882-F900-0363037106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0DDE903-EF73-CFFA-3988-D9BECAD2CFEE}"/>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2CD47AB7-6D69-D9E3-FF1F-28299F9D56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41EB58-4C0C-A550-815C-97B6B2D99979}"/>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209018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612D-A305-CA65-F2B6-5E001AFE6269}"/>
              </a:ext>
            </a:extLst>
          </p:cNvPr>
          <p:cNvSpPr>
            <a:spLocks noGrp="1"/>
          </p:cNvSpPr>
          <p:nvPr>
            <p:ph type="title"/>
          </p:nvPr>
        </p:nvSpPr>
        <p:spPr>
          <a:xfrm>
            <a:off x="675878" y="1709739"/>
            <a:ext cx="8543925" cy="2852737"/>
          </a:xfrm>
        </p:spPr>
        <p:txBody>
          <a:bodyPr anchor="b"/>
          <a:lstStyle>
            <a:lvl1pPr>
              <a:defRPr sz="4875"/>
            </a:lvl1pPr>
          </a:lstStyle>
          <a:p>
            <a:r>
              <a:rPr lang="en-GB"/>
              <a:t>Click to edit Master title style</a:t>
            </a:r>
          </a:p>
        </p:txBody>
      </p:sp>
      <p:sp>
        <p:nvSpPr>
          <p:cNvPr id="3" name="Text Placeholder 2">
            <a:extLst>
              <a:ext uri="{FF2B5EF4-FFF2-40B4-BE49-F238E27FC236}">
                <a16:creationId xmlns:a16="http://schemas.microsoft.com/office/drawing/2014/main" id="{B723A3B9-15F3-D051-ADEE-684BE06C2ED2}"/>
              </a:ext>
            </a:extLst>
          </p:cNvPr>
          <p:cNvSpPr>
            <a:spLocks noGrp="1"/>
          </p:cNvSpPr>
          <p:nvPr>
            <p:ph type="body" idx="1"/>
          </p:nvPr>
        </p:nvSpPr>
        <p:spPr>
          <a:xfrm>
            <a:off x="675878" y="4589464"/>
            <a:ext cx="8543925"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341E318-C4C9-E1E5-7C47-8D6A7CC5F695}"/>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CBBB1452-79E7-1529-68D2-DD5EB90A8D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9A1E1C-85DF-7C3C-C584-349D8AF6A299}"/>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174037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32138-3BF3-077F-0D14-C6DB36A8E72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75DF7AC-F32A-3E34-D133-B504560E3504}"/>
              </a:ext>
            </a:extLst>
          </p:cNvPr>
          <p:cNvSpPr>
            <a:spLocks noGrp="1"/>
          </p:cNvSpPr>
          <p:nvPr>
            <p:ph sz="half" idx="1"/>
          </p:nvPr>
        </p:nvSpPr>
        <p:spPr>
          <a:xfrm>
            <a:off x="681038"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223FB5-1553-0CE4-078E-85FD8D8FAEED}"/>
              </a:ext>
            </a:extLst>
          </p:cNvPr>
          <p:cNvSpPr>
            <a:spLocks noGrp="1"/>
          </p:cNvSpPr>
          <p:nvPr>
            <p:ph sz="half" idx="2"/>
          </p:nvPr>
        </p:nvSpPr>
        <p:spPr>
          <a:xfrm>
            <a:off x="5014913" y="1825625"/>
            <a:ext cx="42100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563B59B-BD3D-8554-8182-616E67DD8979}"/>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6" name="Footer Placeholder 5">
            <a:extLst>
              <a:ext uri="{FF2B5EF4-FFF2-40B4-BE49-F238E27FC236}">
                <a16:creationId xmlns:a16="http://schemas.microsoft.com/office/drawing/2014/main" id="{A0F5E8DA-61C5-3442-5959-07F7F4347E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60A9C2-5A48-31A0-EC87-AF02F29DA19F}"/>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92357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BD946-431D-523C-3B06-2A74381100F7}"/>
              </a:ext>
            </a:extLst>
          </p:cNvPr>
          <p:cNvSpPr>
            <a:spLocks noGrp="1"/>
          </p:cNvSpPr>
          <p:nvPr>
            <p:ph type="title"/>
          </p:nvPr>
        </p:nvSpPr>
        <p:spPr>
          <a:xfrm>
            <a:off x="682328" y="365126"/>
            <a:ext cx="8543925"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BCBAF86-B387-07ED-DC3E-CE19A4F021E3}"/>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4" name="Content Placeholder 3">
            <a:extLst>
              <a:ext uri="{FF2B5EF4-FFF2-40B4-BE49-F238E27FC236}">
                <a16:creationId xmlns:a16="http://schemas.microsoft.com/office/drawing/2014/main" id="{FA18F573-6080-60CE-2D42-20D5D7BDD7CD}"/>
              </a:ext>
            </a:extLst>
          </p:cNvPr>
          <p:cNvSpPr>
            <a:spLocks noGrp="1"/>
          </p:cNvSpPr>
          <p:nvPr>
            <p:ph sz="half" idx="2"/>
          </p:nvPr>
        </p:nvSpPr>
        <p:spPr>
          <a:xfrm>
            <a:off x="682328" y="2505075"/>
            <a:ext cx="419070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38BCA87-F776-683D-0FF1-5FB626250261}"/>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GB"/>
              <a:t>Click to edit Master text styles</a:t>
            </a:r>
          </a:p>
        </p:txBody>
      </p:sp>
      <p:sp>
        <p:nvSpPr>
          <p:cNvPr id="6" name="Content Placeholder 5">
            <a:extLst>
              <a:ext uri="{FF2B5EF4-FFF2-40B4-BE49-F238E27FC236}">
                <a16:creationId xmlns:a16="http://schemas.microsoft.com/office/drawing/2014/main" id="{FCCE4B00-6CF4-8A3B-42BC-F7BB1C9E0717}"/>
              </a:ext>
            </a:extLst>
          </p:cNvPr>
          <p:cNvSpPr>
            <a:spLocks noGrp="1"/>
          </p:cNvSpPr>
          <p:nvPr>
            <p:ph sz="quarter" idx="4"/>
          </p:nvPr>
        </p:nvSpPr>
        <p:spPr>
          <a:xfrm>
            <a:off x="5014913" y="2505075"/>
            <a:ext cx="4211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7C01B2A-B561-129F-2384-548DEE4378A1}"/>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8" name="Footer Placeholder 7">
            <a:extLst>
              <a:ext uri="{FF2B5EF4-FFF2-40B4-BE49-F238E27FC236}">
                <a16:creationId xmlns:a16="http://schemas.microsoft.com/office/drawing/2014/main" id="{A531CDDF-E8BA-9F5C-D68B-BBF9D84F08E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B81AC16-58C0-3746-ABAC-11EE8C976AD0}"/>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79340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2340-743C-FA34-E452-9DAE471C555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A4B3B2D-9BF8-538A-3873-04E168119B37}"/>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4" name="Footer Placeholder 3">
            <a:extLst>
              <a:ext uri="{FF2B5EF4-FFF2-40B4-BE49-F238E27FC236}">
                <a16:creationId xmlns:a16="http://schemas.microsoft.com/office/drawing/2014/main" id="{2B0A4022-DB5D-FE76-87A8-3F9227C6A54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0114727-F1F3-DBCE-E823-D28C264A67E6}"/>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1567952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2DED33-48D8-3D2E-16E4-96BBB926507B}"/>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3" name="Footer Placeholder 2">
            <a:extLst>
              <a:ext uri="{FF2B5EF4-FFF2-40B4-BE49-F238E27FC236}">
                <a16:creationId xmlns:a16="http://schemas.microsoft.com/office/drawing/2014/main" id="{6A0CFCF8-2788-BAF4-D7D0-CCC4EE8A083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CBF1EAC-DD38-2418-4E81-8069D2C4A4A3}"/>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3374240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7867C-8BBC-0C6F-A661-D0F52BC578CF}"/>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p>
        </p:txBody>
      </p:sp>
      <p:sp>
        <p:nvSpPr>
          <p:cNvPr id="3" name="Content Placeholder 2">
            <a:extLst>
              <a:ext uri="{FF2B5EF4-FFF2-40B4-BE49-F238E27FC236}">
                <a16:creationId xmlns:a16="http://schemas.microsoft.com/office/drawing/2014/main" id="{90A61EE6-23D8-037B-A948-EDE9566F46FD}"/>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35A38BD-278F-77CE-B787-00FFC93318C0}"/>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BA0F5F6E-B1FF-8F9F-018E-456ED64D7653}"/>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6" name="Footer Placeholder 5">
            <a:extLst>
              <a:ext uri="{FF2B5EF4-FFF2-40B4-BE49-F238E27FC236}">
                <a16:creationId xmlns:a16="http://schemas.microsoft.com/office/drawing/2014/main" id="{5A0266F8-F569-8018-A112-A1DBFD484D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019A8D-40DC-43C4-A539-358C06850EF9}"/>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376012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F0EB4-2E1B-DD55-28A3-F378E1833179}"/>
              </a:ext>
            </a:extLst>
          </p:cNvPr>
          <p:cNvSpPr>
            <a:spLocks noGrp="1"/>
          </p:cNvSpPr>
          <p:nvPr>
            <p:ph type="title"/>
          </p:nvPr>
        </p:nvSpPr>
        <p:spPr>
          <a:xfrm>
            <a:off x="682328" y="457200"/>
            <a:ext cx="3194943" cy="1600200"/>
          </a:xfrm>
        </p:spPr>
        <p:txBody>
          <a:bodyPr anchor="b"/>
          <a:lstStyle>
            <a:lvl1pPr>
              <a:defRPr sz="2600"/>
            </a:lvl1pPr>
          </a:lstStyle>
          <a:p>
            <a:r>
              <a:rPr lang="en-GB"/>
              <a:t>Click to edit Master title style</a:t>
            </a:r>
          </a:p>
        </p:txBody>
      </p:sp>
      <p:sp>
        <p:nvSpPr>
          <p:cNvPr id="3" name="Picture Placeholder 2">
            <a:extLst>
              <a:ext uri="{FF2B5EF4-FFF2-40B4-BE49-F238E27FC236}">
                <a16:creationId xmlns:a16="http://schemas.microsoft.com/office/drawing/2014/main" id="{961C8621-D42D-6C3C-EA10-A815814172C5}"/>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r>
              <a:rPr lang="en-GB"/>
              <a:t>Click icon to add picture</a:t>
            </a:r>
          </a:p>
        </p:txBody>
      </p:sp>
      <p:sp>
        <p:nvSpPr>
          <p:cNvPr id="4" name="Text Placeholder 3">
            <a:extLst>
              <a:ext uri="{FF2B5EF4-FFF2-40B4-BE49-F238E27FC236}">
                <a16:creationId xmlns:a16="http://schemas.microsoft.com/office/drawing/2014/main" id="{B58332F4-BA48-3873-DEFF-8F500BDD0ABF}"/>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en-GB"/>
              <a:t>Click to edit Master text styles</a:t>
            </a:r>
          </a:p>
        </p:txBody>
      </p:sp>
      <p:sp>
        <p:nvSpPr>
          <p:cNvPr id="5" name="Date Placeholder 4">
            <a:extLst>
              <a:ext uri="{FF2B5EF4-FFF2-40B4-BE49-F238E27FC236}">
                <a16:creationId xmlns:a16="http://schemas.microsoft.com/office/drawing/2014/main" id="{CB899DC8-5A54-1CD0-3560-67F456CF5ECE}"/>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6" name="Footer Placeholder 5">
            <a:extLst>
              <a:ext uri="{FF2B5EF4-FFF2-40B4-BE49-F238E27FC236}">
                <a16:creationId xmlns:a16="http://schemas.microsoft.com/office/drawing/2014/main" id="{C5AF1749-FC3C-04C9-5CF0-C574881388E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C077407-D5CF-8109-7997-F8E27572ED3E}"/>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4066847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94AFC-E5F3-5A6B-1F82-5DAE0BA8022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38CCACB-1D18-8E13-AA79-ABA3A6BCB5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4CF3A3B-2ED2-E731-4052-A8CC4A72A81F}"/>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4BAB09F6-F192-2D38-5A66-5909C25A54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E36C65-979A-4E39-AE98-CC4CA04DA754}"/>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1719954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304B4D-5488-B1A6-E6F4-A5198E309B59}"/>
              </a:ext>
            </a:extLst>
          </p:cNvPr>
          <p:cNvSpPr>
            <a:spLocks noGrp="1"/>
          </p:cNvSpPr>
          <p:nvPr>
            <p:ph type="title" orient="vert"/>
          </p:nvPr>
        </p:nvSpPr>
        <p:spPr>
          <a:xfrm>
            <a:off x="7088981" y="365125"/>
            <a:ext cx="2135981"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C9CC6D5-BEF6-CD21-B1E5-E0E8EB411BD9}"/>
              </a:ext>
            </a:extLst>
          </p:cNvPr>
          <p:cNvSpPr>
            <a:spLocks noGrp="1"/>
          </p:cNvSpPr>
          <p:nvPr>
            <p:ph type="body" orient="vert" idx="1"/>
          </p:nvPr>
        </p:nvSpPr>
        <p:spPr>
          <a:xfrm>
            <a:off x="681037" y="365125"/>
            <a:ext cx="6284119"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7256079-D864-09A7-5111-1851F1BAC3BF}"/>
              </a:ext>
            </a:extLst>
          </p:cNvPr>
          <p:cNvSpPr>
            <a:spLocks noGrp="1"/>
          </p:cNvSpPr>
          <p:nvPr>
            <p:ph type="dt" sz="half" idx="10"/>
          </p:nvPr>
        </p:nvSpPr>
        <p:spPr/>
        <p:txBody>
          <a:body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2B712790-C6EB-54E0-7911-775F447706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91C381-DC2E-6615-D1AB-038EA010D365}"/>
              </a:ext>
            </a:extLst>
          </p:cNvPr>
          <p:cNvSpPr>
            <a:spLocks noGrp="1"/>
          </p:cNvSpPr>
          <p:nvPr>
            <p:ph type="sldNum" sz="quarter" idx="12"/>
          </p:nvPr>
        </p:nvSpPr>
        <p:spPr/>
        <p:txBody>
          <a:bodyPr/>
          <a:lstStyle/>
          <a:p>
            <a:fld id="{2EFC451D-B1FE-4D3C-A247-A19E65E79FCC}" type="slidenum">
              <a:rPr lang="en-GB" smtClean="0"/>
              <a:t>‹#›</a:t>
            </a:fld>
            <a:endParaRPr lang="en-GB"/>
          </a:p>
        </p:txBody>
      </p:sp>
    </p:spTree>
    <p:extLst>
      <p:ext uri="{BB962C8B-B14F-4D97-AF65-F5344CB8AC3E}">
        <p14:creationId xmlns:p14="http://schemas.microsoft.com/office/powerpoint/2010/main" val="1438082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CBE95C-4117-EDEB-8EBC-84FBEFD29DF5}"/>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9BCB48A-4800-16C9-5802-43198755E4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F63099F-C8C5-A6B3-0E7A-2D0B0BB7DE78}"/>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46EB316B-4E23-4FD8-A8D1-697ACAA3C23A}" type="datetimeFigureOut">
              <a:rPr lang="en-GB" smtClean="0"/>
              <a:t>15/07/2026</a:t>
            </a:fld>
            <a:endParaRPr lang="en-GB"/>
          </a:p>
        </p:txBody>
      </p:sp>
      <p:sp>
        <p:nvSpPr>
          <p:cNvPr id="5" name="Footer Placeholder 4">
            <a:extLst>
              <a:ext uri="{FF2B5EF4-FFF2-40B4-BE49-F238E27FC236}">
                <a16:creationId xmlns:a16="http://schemas.microsoft.com/office/drawing/2014/main" id="{D1A76C35-39A6-0405-833E-D3A2A3E33093}"/>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AA3F889-7BE6-E425-F5D4-12E973CB3FA2}"/>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2EFC451D-B1FE-4D3C-A247-A19E65E79FCC}" type="slidenum">
              <a:rPr lang="en-GB" smtClean="0"/>
              <a:t>‹#›</a:t>
            </a:fld>
            <a:endParaRPr lang="en-GB"/>
          </a:p>
        </p:txBody>
      </p:sp>
    </p:spTree>
    <p:extLst>
      <p:ext uri="{BB962C8B-B14F-4D97-AF65-F5344CB8AC3E}">
        <p14:creationId xmlns:p14="http://schemas.microsoft.com/office/powerpoint/2010/main" val="1785889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5CF1E2FF-FC98-CDE4-9A6C-46ECF53CD3F6}"/>
              </a:ext>
            </a:extLst>
          </p:cNvPr>
          <p:cNvSpPr/>
          <p:nvPr/>
        </p:nvSpPr>
        <p:spPr>
          <a:xfrm>
            <a:off x="7789838" y="2455393"/>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14" name="Rectangle: Rounded Corners 13">
            <a:extLst>
              <a:ext uri="{FF2B5EF4-FFF2-40B4-BE49-F238E27FC236}">
                <a16:creationId xmlns:a16="http://schemas.microsoft.com/office/drawing/2014/main" id="{87AE8CEA-FCFF-28C2-374F-F8057785D9B3}"/>
              </a:ext>
            </a:extLst>
          </p:cNvPr>
          <p:cNvSpPr/>
          <p:nvPr/>
        </p:nvSpPr>
        <p:spPr>
          <a:xfrm>
            <a:off x="5706693" y="2455393"/>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78" name="Rectangle 77">
            <a:extLst>
              <a:ext uri="{FF2B5EF4-FFF2-40B4-BE49-F238E27FC236}">
                <a16:creationId xmlns:a16="http://schemas.microsoft.com/office/drawing/2014/main" id="{D02C183D-D5AE-7ED1-0693-E54F7869704E}"/>
              </a:ext>
            </a:extLst>
          </p:cNvPr>
          <p:cNvSpPr/>
          <p:nvPr/>
        </p:nvSpPr>
        <p:spPr>
          <a:xfrm>
            <a:off x="0" y="75258"/>
            <a:ext cx="9905999" cy="3643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9BAC4CFE-208B-298B-57DB-983D171D774D}"/>
              </a:ext>
            </a:extLst>
          </p:cNvPr>
          <p:cNvSpPr/>
          <p:nvPr/>
        </p:nvSpPr>
        <p:spPr>
          <a:xfrm>
            <a:off x="3647767" y="4613998"/>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28" name="Rectangle: Rounded Corners 27">
            <a:extLst>
              <a:ext uri="{FF2B5EF4-FFF2-40B4-BE49-F238E27FC236}">
                <a16:creationId xmlns:a16="http://schemas.microsoft.com/office/drawing/2014/main" id="{3223AFDE-70DC-C141-3543-58D37D798EA3}"/>
              </a:ext>
            </a:extLst>
          </p:cNvPr>
          <p:cNvSpPr/>
          <p:nvPr/>
        </p:nvSpPr>
        <p:spPr>
          <a:xfrm>
            <a:off x="3623548" y="2455393"/>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25" name="Rectangle: Rounded Corners 24">
            <a:extLst>
              <a:ext uri="{FF2B5EF4-FFF2-40B4-BE49-F238E27FC236}">
                <a16:creationId xmlns:a16="http://schemas.microsoft.com/office/drawing/2014/main" id="{090B6593-02E6-59AB-58A0-6C981494BF8E}"/>
              </a:ext>
            </a:extLst>
          </p:cNvPr>
          <p:cNvSpPr/>
          <p:nvPr/>
        </p:nvSpPr>
        <p:spPr>
          <a:xfrm>
            <a:off x="3641169" y="296789"/>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26" name="Rectangle: Rounded Corners 25">
            <a:extLst>
              <a:ext uri="{FF2B5EF4-FFF2-40B4-BE49-F238E27FC236}">
                <a16:creationId xmlns:a16="http://schemas.microsoft.com/office/drawing/2014/main" id="{70DC47F5-B925-973C-ED9B-7A89BFF43FDC}"/>
              </a:ext>
            </a:extLst>
          </p:cNvPr>
          <p:cNvSpPr/>
          <p:nvPr/>
        </p:nvSpPr>
        <p:spPr>
          <a:xfrm>
            <a:off x="5712204" y="296788"/>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27" name="Rectangle: Rounded Corners 26">
            <a:extLst>
              <a:ext uri="{FF2B5EF4-FFF2-40B4-BE49-F238E27FC236}">
                <a16:creationId xmlns:a16="http://schemas.microsoft.com/office/drawing/2014/main" id="{8C41A6C0-7BC9-B068-14DC-A36507E5DBAD}"/>
              </a:ext>
            </a:extLst>
          </p:cNvPr>
          <p:cNvSpPr/>
          <p:nvPr/>
        </p:nvSpPr>
        <p:spPr>
          <a:xfrm>
            <a:off x="7783240" y="296788"/>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4" name="Rectangle: Rounded Corners 3">
            <a:extLst>
              <a:ext uri="{FF2B5EF4-FFF2-40B4-BE49-F238E27FC236}">
                <a16:creationId xmlns:a16="http://schemas.microsoft.com/office/drawing/2014/main" id="{46E1A54D-A0E7-AAEB-F0E4-98C6519F020A}"/>
              </a:ext>
            </a:extLst>
          </p:cNvPr>
          <p:cNvSpPr/>
          <p:nvPr/>
        </p:nvSpPr>
        <p:spPr>
          <a:xfrm>
            <a:off x="142222" y="3443287"/>
            <a:ext cx="3276713" cy="3248794"/>
          </a:xfrm>
          <a:prstGeom prst="roundRect">
            <a:avLst>
              <a:gd name="adj" fmla="val 2646"/>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17" name="Rectangle: Rounded Corners 16">
            <a:extLst>
              <a:ext uri="{FF2B5EF4-FFF2-40B4-BE49-F238E27FC236}">
                <a16:creationId xmlns:a16="http://schemas.microsoft.com/office/drawing/2014/main" id="{3B4AA851-4B5D-0C34-2C0F-3A2543DB57E5}"/>
              </a:ext>
            </a:extLst>
          </p:cNvPr>
          <p:cNvSpPr/>
          <p:nvPr/>
        </p:nvSpPr>
        <p:spPr>
          <a:xfrm>
            <a:off x="151251" y="162582"/>
            <a:ext cx="3269571" cy="3140706"/>
          </a:xfrm>
          <a:prstGeom prst="roundRect">
            <a:avLst>
              <a:gd name="adj" fmla="val 5666"/>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18" name="TextBox 17">
            <a:extLst>
              <a:ext uri="{FF2B5EF4-FFF2-40B4-BE49-F238E27FC236}">
                <a16:creationId xmlns:a16="http://schemas.microsoft.com/office/drawing/2014/main" id="{6CC22EA9-4ECC-F108-9D33-01008DB81AE7}"/>
              </a:ext>
            </a:extLst>
          </p:cNvPr>
          <p:cNvSpPr txBox="1"/>
          <p:nvPr/>
        </p:nvSpPr>
        <p:spPr>
          <a:xfrm>
            <a:off x="3647767" y="2454868"/>
            <a:ext cx="1698029" cy="276999"/>
          </a:xfrm>
          <a:prstGeom prst="rect">
            <a:avLst/>
          </a:prstGeom>
          <a:noFill/>
        </p:spPr>
        <p:txBody>
          <a:bodyPr wrap="none" rtlCol="0">
            <a:spAutoFit/>
          </a:bodyPr>
          <a:lstStyle/>
          <a:p>
            <a:r>
              <a:rPr lang="en-GB" sz="1200"/>
              <a:t>I’m at my best when ..</a:t>
            </a:r>
          </a:p>
        </p:txBody>
      </p:sp>
      <p:sp>
        <p:nvSpPr>
          <p:cNvPr id="12" name="Rectangle: Rounded Corners 11">
            <a:extLst>
              <a:ext uri="{FF2B5EF4-FFF2-40B4-BE49-F238E27FC236}">
                <a16:creationId xmlns:a16="http://schemas.microsoft.com/office/drawing/2014/main" id="{F5F22D72-C7F9-5E4C-8E09-B0D74E270979}"/>
              </a:ext>
            </a:extLst>
          </p:cNvPr>
          <p:cNvSpPr/>
          <p:nvPr/>
        </p:nvSpPr>
        <p:spPr>
          <a:xfrm>
            <a:off x="5718802" y="4613997"/>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13" name="Rectangle: Rounded Corners 12">
            <a:extLst>
              <a:ext uri="{FF2B5EF4-FFF2-40B4-BE49-F238E27FC236}">
                <a16:creationId xmlns:a16="http://schemas.microsoft.com/office/drawing/2014/main" id="{BB442AAE-B39B-A61D-EA51-08C7BED04CE8}"/>
              </a:ext>
            </a:extLst>
          </p:cNvPr>
          <p:cNvSpPr/>
          <p:nvPr/>
        </p:nvSpPr>
        <p:spPr>
          <a:xfrm>
            <a:off x="7789838" y="4613997"/>
            <a:ext cx="2006666" cy="2090527"/>
          </a:xfrm>
          <a:prstGeom prst="roundRect">
            <a:avLst>
              <a:gd name="adj" fmla="val 5353"/>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1463"/>
          </a:p>
        </p:txBody>
      </p:sp>
      <p:sp>
        <p:nvSpPr>
          <p:cNvPr id="10" name="TextBox 9">
            <a:extLst>
              <a:ext uri="{FF2B5EF4-FFF2-40B4-BE49-F238E27FC236}">
                <a16:creationId xmlns:a16="http://schemas.microsoft.com/office/drawing/2014/main" id="{E5EEBE45-5E94-825C-BA48-AA6566BE8EF6}"/>
              </a:ext>
            </a:extLst>
          </p:cNvPr>
          <p:cNvSpPr txBox="1"/>
          <p:nvPr/>
        </p:nvSpPr>
        <p:spPr>
          <a:xfrm>
            <a:off x="7783240" y="2454868"/>
            <a:ext cx="1971509" cy="461665"/>
          </a:xfrm>
          <a:prstGeom prst="rect">
            <a:avLst/>
          </a:prstGeom>
          <a:noFill/>
        </p:spPr>
        <p:txBody>
          <a:bodyPr wrap="square" rtlCol="0">
            <a:spAutoFit/>
          </a:bodyPr>
          <a:lstStyle/>
          <a:p>
            <a:r>
              <a:rPr lang="en-GB" sz="1200"/>
              <a:t>When I’m stressed, the best way to support me is</a:t>
            </a:r>
          </a:p>
        </p:txBody>
      </p:sp>
      <p:sp>
        <p:nvSpPr>
          <p:cNvPr id="19" name="TextBox 18">
            <a:extLst>
              <a:ext uri="{FF2B5EF4-FFF2-40B4-BE49-F238E27FC236}">
                <a16:creationId xmlns:a16="http://schemas.microsoft.com/office/drawing/2014/main" id="{9F63A697-9037-7B63-AEE0-C473EFDDAC88}"/>
              </a:ext>
            </a:extLst>
          </p:cNvPr>
          <p:cNvSpPr txBox="1"/>
          <p:nvPr/>
        </p:nvSpPr>
        <p:spPr>
          <a:xfrm>
            <a:off x="5705436" y="316616"/>
            <a:ext cx="2081285" cy="461665"/>
          </a:xfrm>
          <a:prstGeom prst="rect">
            <a:avLst/>
          </a:prstGeom>
          <a:noFill/>
        </p:spPr>
        <p:txBody>
          <a:bodyPr wrap="square" rtlCol="0">
            <a:spAutoFit/>
          </a:bodyPr>
          <a:lstStyle/>
          <a:p>
            <a:r>
              <a:rPr lang="en-GB" sz="1200"/>
              <a:t>I prefer communicating in these ways…</a:t>
            </a:r>
          </a:p>
        </p:txBody>
      </p:sp>
      <p:sp>
        <p:nvSpPr>
          <p:cNvPr id="20" name="TextBox 19">
            <a:extLst>
              <a:ext uri="{FF2B5EF4-FFF2-40B4-BE49-F238E27FC236}">
                <a16:creationId xmlns:a16="http://schemas.microsoft.com/office/drawing/2014/main" id="{D955A108-B02C-DCF1-BC6A-BA728B428D26}"/>
              </a:ext>
            </a:extLst>
          </p:cNvPr>
          <p:cNvSpPr txBox="1"/>
          <p:nvPr/>
        </p:nvSpPr>
        <p:spPr>
          <a:xfrm>
            <a:off x="7776471" y="316228"/>
            <a:ext cx="2001928" cy="461665"/>
          </a:xfrm>
          <a:prstGeom prst="rect">
            <a:avLst/>
          </a:prstGeom>
          <a:noFill/>
        </p:spPr>
        <p:txBody>
          <a:bodyPr wrap="square" rtlCol="0">
            <a:spAutoFit/>
          </a:bodyPr>
          <a:lstStyle/>
          <a:p>
            <a:r>
              <a:rPr lang="en-GB" sz="1200"/>
              <a:t>When receiving feedback, it's important that…</a:t>
            </a:r>
          </a:p>
        </p:txBody>
      </p:sp>
      <p:sp>
        <p:nvSpPr>
          <p:cNvPr id="21" name="TextBox 20">
            <a:extLst>
              <a:ext uri="{FF2B5EF4-FFF2-40B4-BE49-F238E27FC236}">
                <a16:creationId xmlns:a16="http://schemas.microsoft.com/office/drawing/2014/main" id="{551D97B9-AFD7-AC2B-DF5A-E516C8732830}"/>
              </a:ext>
            </a:extLst>
          </p:cNvPr>
          <p:cNvSpPr txBox="1"/>
          <p:nvPr/>
        </p:nvSpPr>
        <p:spPr>
          <a:xfrm>
            <a:off x="3647767" y="4635654"/>
            <a:ext cx="1893807" cy="276999"/>
          </a:xfrm>
          <a:prstGeom prst="rect">
            <a:avLst/>
          </a:prstGeom>
          <a:noFill/>
        </p:spPr>
        <p:txBody>
          <a:bodyPr wrap="square" rtlCol="0">
            <a:spAutoFit/>
          </a:bodyPr>
          <a:lstStyle/>
          <a:p>
            <a:r>
              <a:rPr lang="en-GB" sz="1200"/>
              <a:t>Q1</a:t>
            </a:r>
          </a:p>
        </p:txBody>
      </p:sp>
      <p:sp>
        <p:nvSpPr>
          <p:cNvPr id="23" name="TextBox 22">
            <a:extLst>
              <a:ext uri="{FF2B5EF4-FFF2-40B4-BE49-F238E27FC236}">
                <a16:creationId xmlns:a16="http://schemas.microsoft.com/office/drawing/2014/main" id="{B425159E-41D1-4A7D-E5F7-2F889B83A30F}"/>
              </a:ext>
            </a:extLst>
          </p:cNvPr>
          <p:cNvSpPr txBox="1"/>
          <p:nvPr/>
        </p:nvSpPr>
        <p:spPr>
          <a:xfrm>
            <a:off x="127601" y="162582"/>
            <a:ext cx="2031325" cy="523220"/>
          </a:xfrm>
          <a:prstGeom prst="rect">
            <a:avLst/>
          </a:prstGeom>
          <a:noFill/>
        </p:spPr>
        <p:txBody>
          <a:bodyPr wrap="none" rtlCol="0">
            <a:spAutoFit/>
          </a:bodyPr>
          <a:lstStyle/>
          <a:p>
            <a:r>
              <a:rPr lang="en-GB" sz="2800">
                <a:latin typeface="ADLaM Display" panose="020F0502020204030204" pitchFamily="2" charset="0"/>
                <a:ea typeface="ADLaM Display" panose="020F0502020204030204" pitchFamily="2" charset="0"/>
                <a:cs typeface="ADLaM Display" panose="020F0502020204030204" pitchFamily="2" charset="0"/>
              </a:rPr>
              <a:t>Manual of </a:t>
            </a:r>
          </a:p>
        </p:txBody>
      </p:sp>
      <p:sp>
        <p:nvSpPr>
          <p:cNvPr id="29" name="TextBox 28">
            <a:extLst>
              <a:ext uri="{FF2B5EF4-FFF2-40B4-BE49-F238E27FC236}">
                <a16:creationId xmlns:a16="http://schemas.microsoft.com/office/drawing/2014/main" id="{C559CC30-B31A-2D53-B09C-6E58265674C5}"/>
              </a:ext>
            </a:extLst>
          </p:cNvPr>
          <p:cNvSpPr txBox="1"/>
          <p:nvPr/>
        </p:nvSpPr>
        <p:spPr>
          <a:xfrm>
            <a:off x="151250" y="3463271"/>
            <a:ext cx="1320426" cy="369332"/>
          </a:xfrm>
          <a:prstGeom prst="rect">
            <a:avLst/>
          </a:prstGeom>
          <a:noFill/>
        </p:spPr>
        <p:txBody>
          <a:bodyPr wrap="none" rtlCol="0">
            <a:spAutoFit/>
          </a:bodyPr>
          <a:lstStyle/>
          <a:p>
            <a:r>
              <a:rPr lang="en-GB"/>
              <a:t>Skill Profile</a:t>
            </a:r>
          </a:p>
        </p:txBody>
      </p:sp>
      <p:sp>
        <p:nvSpPr>
          <p:cNvPr id="35" name="Rectangle 34">
            <a:extLst>
              <a:ext uri="{FF2B5EF4-FFF2-40B4-BE49-F238E27FC236}">
                <a16:creationId xmlns:a16="http://schemas.microsoft.com/office/drawing/2014/main" id="{54D8697F-0AA0-1F72-0951-DC059696F1D0}"/>
              </a:ext>
            </a:extLst>
          </p:cNvPr>
          <p:cNvSpPr/>
          <p:nvPr/>
        </p:nvSpPr>
        <p:spPr>
          <a:xfrm>
            <a:off x="1464138" y="389726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6" name="Rectangle 35">
            <a:extLst>
              <a:ext uri="{FF2B5EF4-FFF2-40B4-BE49-F238E27FC236}">
                <a16:creationId xmlns:a16="http://schemas.microsoft.com/office/drawing/2014/main" id="{DDA2A124-31AB-A4FF-627A-E085E3E62AC4}"/>
              </a:ext>
            </a:extLst>
          </p:cNvPr>
          <p:cNvSpPr/>
          <p:nvPr/>
        </p:nvSpPr>
        <p:spPr>
          <a:xfrm>
            <a:off x="1813903" y="389726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7" name="Rectangle 36">
            <a:extLst>
              <a:ext uri="{FF2B5EF4-FFF2-40B4-BE49-F238E27FC236}">
                <a16:creationId xmlns:a16="http://schemas.microsoft.com/office/drawing/2014/main" id="{81286A8D-4717-1EE6-9404-5642FB5747FD}"/>
              </a:ext>
            </a:extLst>
          </p:cNvPr>
          <p:cNvSpPr/>
          <p:nvPr/>
        </p:nvSpPr>
        <p:spPr>
          <a:xfrm>
            <a:off x="2164913" y="389726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8" name="Rectangle 37">
            <a:extLst>
              <a:ext uri="{FF2B5EF4-FFF2-40B4-BE49-F238E27FC236}">
                <a16:creationId xmlns:a16="http://schemas.microsoft.com/office/drawing/2014/main" id="{08DDFBEC-5C6A-D904-2FB7-89DD2299F3FD}"/>
              </a:ext>
            </a:extLst>
          </p:cNvPr>
          <p:cNvSpPr/>
          <p:nvPr/>
        </p:nvSpPr>
        <p:spPr>
          <a:xfrm>
            <a:off x="2504669" y="389726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9" name="Rectangle 38">
            <a:extLst>
              <a:ext uri="{FF2B5EF4-FFF2-40B4-BE49-F238E27FC236}">
                <a16:creationId xmlns:a16="http://schemas.microsoft.com/office/drawing/2014/main" id="{3E15655D-C8C3-C105-93F6-D59FAD667A75}"/>
              </a:ext>
            </a:extLst>
          </p:cNvPr>
          <p:cNvSpPr/>
          <p:nvPr/>
        </p:nvSpPr>
        <p:spPr>
          <a:xfrm>
            <a:off x="2855502" y="389726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2" name="Rectangle 41">
            <a:extLst>
              <a:ext uri="{FF2B5EF4-FFF2-40B4-BE49-F238E27FC236}">
                <a16:creationId xmlns:a16="http://schemas.microsoft.com/office/drawing/2014/main" id="{9E4858A0-953E-53EF-498F-42A034B5FC51}"/>
              </a:ext>
            </a:extLst>
          </p:cNvPr>
          <p:cNvSpPr/>
          <p:nvPr/>
        </p:nvSpPr>
        <p:spPr>
          <a:xfrm>
            <a:off x="1463608" y="446657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3" name="Rectangle 42">
            <a:extLst>
              <a:ext uri="{FF2B5EF4-FFF2-40B4-BE49-F238E27FC236}">
                <a16:creationId xmlns:a16="http://schemas.microsoft.com/office/drawing/2014/main" id="{BD3E7642-3C0E-EE6B-CE5E-E6B559B9FCB1}"/>
              </a:ext>
            </a:extLst>
          </p:cNvPr>
          <p:cNvSpPr/>
          <p:nvPr/>
        </p:nvSpPr>
        <p:spPr>
          <a:xfrm>
            <a:off x="1813373" y="446657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4" name="Rectangle 43">
            <a:extLst>
              <a:ext uri="{FF2B5EF4-FFF2-40B4-BE49-F238E27FC236}">
                <a16:creationId xmlns:a16="http://schemas.microsoft.com/office/drawing/2014/main" id="{C18F4D47-ED36-19E0-3992-7405393AD13A}"/>
              </a:ext>
            </a:extLst>
          </p:cNvPr>
          <p:cNvSpPr/>
          <p:nvPr/>
        </p:nvSpPr>
        <p:spPr>
          <a:xfrm>
            <a:off x="2164383" y="446657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5" name="Rectangle 44">
            <a:extLst>
              <a:ext uri="{FF2B5EF4-FFF2-40B4-BE49-F238E27FC236}">
                <a16:creationId xmlns:a16="http://schemas.microsoft.com/office/drawing/2014/main" id="{B1AD90E0-E770-1884-9496-F00C2EC5C452}"/>
              </a:ext>
            </a:extLst>
          </p:cNvPr>
          <p:cNvSpPr/>
          <p:nvPr/>
        </p:nvSpPr>
        <p:spPr>
          <a:xfrm>
            <a:off x="2504139" y="446657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6" name="Rectangle 45">
            <a:extLst>
              <a:ext uri="{FF2B5EF4-FFF2-40B4-BE49-F238E27FC236}">
                <a16:creationId xmlns:a16="http://schemas.microsoft.com/office/drawing/2014/main" id="{B400B00A-1A21-997B-B1BA-4727BE9681BB}"/>
              </a:ext>
            </a:extLst>
          </p:cNvPr>
          <p:cNvSpPr/>
          <p:nvPr/>
        </p:nvSpPr>
        <p:spPr>
          <a:xfrm>
            <a:off x="2854972" y="446657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8" name="Rectangle 47">
            <a:extLst>
              <a:ext uri="{FF2B5EF4-FFF2-40B4-BE49-F238E27FC236}">
                <a16:creationId xmlns:a16="http://schemas.microsoft.com/office/drawing/2014/main" id="{C8FA8529-F202-74BD-0549-791D2FB88119}"/>
              </a:ext>
            </a:extLst>
          </p:cNvPr>
          <p:cNvSpPr/>
          <p:nvPr/>
        </p:nvSpPr>
        <p:spPr>
          <a:xfrm>
            <a:off x="1463608" y="503588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49" name="Rectangle 48">
            <a:extLst>
              <a:ext uri="{FF2B5EF4-FFF2-40B4-BE49-F238E27FC236}">
                <a16:creationId xmlns:a16="http://schemas.microsoft.com/office/drawing/2014/main" id="{1B0BA415-FBBD-B992-D55A-BCAC909FEE30}"/>
              </a:ext>
            </a:extLst>
          </p:cNvPr>
          <p:cNvSpPr/>
          <p:nvPr/>
        </p:nvSpPr>
        <p:spPr>
          <a:xfrm>
            <a:off x="1813373" y="503588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0" name="Rectangle 49">
            <a:extLst>
              <a:ext uri="{FF2B5EF4-FFF2-40B4-BE49-F238E27FC236}">
                <a16:creationId xmlns:a16="http://schemas.microsoft.com/office/drawing/2014/main" id="{D641BF24-10E2-124D-5E10-E2D0B5218E80}"/>
              </a:ext>
            </a:extLst>
          </p:cNvPr>
          <p:cNvSpPr/>
          <p:nvPr/>
        </p:nvSpPr>
        <p:spPr>
          <a:xfrm>
            <a:off x="2164383" y="503588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1" name="Rectangle 50">
            <a:extLst>
              <a:ext uri="{FF2B5EF4-FFF2-40B4-BE49-F238E27FC236}">
                <a16:creationId xmlns:a16="http://schemas.microsoft.com/office/drawing/2014/main" id="{4CE1D801-07A1-2D20-9EE0-7CCE38B0D4AA}"/>
              </a:ext>
            </a:extLst>
          </p:cNvPr>
          <p:cNvSpPr/>
          <p:nvPr/>
        </p:nvSpPr>
        <p:spPr>
          <a:xfrm>
            <a:off x="2504139" y="503588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2" name="Rectangle 51">
            <a:extLst>
              <a:ext uri="{FF2B5EF4-FFF2-40B4-BE49-F238E27FC236}">
                <a16:creationId xmlns:a16="http://schemas.microsoft.com/office/drawing/2014/main" id="{8E907A43-917B-05D4-4F22-D4E4B72D4208}"/>
              </a:ext>
            </a:extLst>
          </p:cNvPr>
          <p:cNvSpPr/>
          <p:nvPr/>
        </p:nvSpPr>
        <p:spPr>
          <a:xfrm>
            <a:off x="2854972" y="503588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4" name="Rectangle 53">
            <a:extLst>
              <a:ext uri="{FF2B5EF4-FFF2-40B4-BE49-F238E27FC236}">
                <a16:creationId xmlns:a16="http://schemas.microsoft.com/office/drawing/2014/main" id="{B13CC7B8-1672-76DC-CC5F-4CA89DC3D873}"/>
              </a:ext>
            </a:extLst>
          </p:cNvPr>
          <p:cNvSpPr/>
          <p:nvPr/>
        </p:nvSpPr>
        <p:spPr>
          <a:xfrm>
            <a:off x="1463608" y="560519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5" name="Rectangle 54">
            <a:extLst>
              <a:ext uri="{FF2B5EF4-FFF2-40B4-BE49-F238E27FC236}">
                <a16:creationId xmlns:a16="http://schemas.microsoft.com/office/drawing/2014/main" id="{02E9B576-FF55-7B23-6ABE-CCACE2CC447C}"/>
              </a:ext>
            </a:extLst>
          </p:cNvPr>
          <p:cNvSpPr/>
          <p:nvPr/>
        </p:nvSpPr>
        <p:spPr>
          <a:xfrm>
            <a:off x="1813373" y="560519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6" name="Rectangle 55">
            <a:extLst>
              <a:ext uri="{FF2B5EF4-FFF2-40B4-BE49-F238E27FC236}">
                <a16:creationId xmlns:a16="http://schemas.microsoft.com/office/drawing/2014/main" id="{6BA8177A-C759-136C-2BDF-27E6131E9D1B}"/>
              </a:ext>
            </a:extLst>
          </p:cNvPr>
          <p:cNvSpPr/>
          <p:nvPr/>
        </p:nvSpPr>
        <p:spPr>
          <a:xfrm>
            <a:off x="2164383" y="560519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7" name="Rectangle 56">
            <a:extLst>
              <a:ext uri="{FF2B5EF4-FFF2-40B4-BE49-F238E27FC236}">
                <a16:creationId xmlns:a16="http://schemas.microsoft.com/office/drawing/2014/main" id="{45FF7FF6-9571-1AFB-CD70-8F9AD9A9B19C}"/>
              </a:ext>
            </a:extLst>
          </p:cNvPr>
          <p:cNvSpPr/>
          <p:nvPr/>
        </p:nvSpPr>
        <p:spPr>
          <a:xfrm>
            <a:off x="2504139" y="560519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58" name="Rectangle 57">
            <a:extLst>
              <a:ext uri="{FF2B5EF4-FFF2-40B4-BE49-F238E27FC236}">
                <a16:creationId xmlns:a16="http://schemas.microsoft.com/office/drawing/2014/main" id="{3F9FF226-145F-7C00-E60A-5D2D6AB78761}"/>
              </a:ext>
            </a:extLst>
          </p:cNvPr>
          <p:cNvSpPr/>
          <p:nvPr/>
        </p:nvSpPr>
        <p:spPr>
          <a:xfrm>
            <a:off x="2854972" y="5605191"/>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0" name="Rectangle 59">
            <a:extLst>
              <a:ext uri="{FF2B5EF4-FFF2-40B4-BE49-F238E27FC236}">
                <a16:creationId xmlns:a16="http://schemas.microsoft.com/office/drawing/2014/main" id="{7459704C-7A7E-3917-C6D8-0542598F53E9}"/>
              </a:ext>
            </a:extLst>
          </p:cNvPr>
          <p:cNvSpPr/>
          <p:nvPr/>
        </p:nvSpPr>
        <p:spPr>
          <a:xfrm>
            <a:off x="1463608" y="6171722"/>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1" name="Rectangle 60">
            <a:extLst>
              <a:ext uri="{FF2B5EF4-FFF2-40B4-BE49-F238E27FC236}">
                <a16:creationId xmlns:a16="http://schemas.microsoft.com/office/drawing/2014/main" id="{3D015879-7B1C-4E76-B4A4-0AE34F54198A}"/>
              </a:ext>
            </a:extLst>
          </p:cNvPr>
          <p:cNvSpPr/>
          <p:nvPr/>
        </p:nvSpPr>
        <p:spPr>
          <a:xfrm>
            <a:off x="1813373" y="6171722"/>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2" name="Rectangle 61">
            <a:extLst>
              <a:ext uri="{FF2B5EF4-FFF2-40B4-BE49-F238E27FC236}">
                <a16:creationId xmlns:a16="http://schemas.microsoft.com/office/drawing/2014/main" id="{9FDD765C-2262-9FA6-6C6D-C3DA6981FC39}"/>
              </a:ext>
            </a:extLst>
          </p:cNvPr>
          <p:cNvSpPr/>
          <p:nvPr/>
        </p:nvSpPr>
        <p:spPr>
          <a:xfrm>
            <a:off x="2164383" y="6171722"/>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3" name="Rectangle 62">
            <a:extLst>
              <a:ext uri="{FF2B5EF4-FFF2-40B4-BE49-F238E27FC236}">
                <a16:creationId xmlns:a16="http://schemas.microsoft.com/office/drawing/2014/main" id="{BB999DBF-4C51-BDC8-2E4E-2F3281CD95D5}"/>
              </a:ext>
            </a:extLst>
          </p:cNvPr>
          <p:cNvSpPr/>
          <p:nvPr/>
        </p:nvSpPr>
        <p:spPr>
          <a:xfrm>
            <a:off x="2504139" y="6171722"/>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4" name="Rectangle 63">
            <a:extLst>
              <a:ext uri="{FF2B5EF4-FFF2-40B4-BE49-F238E27FC236}">
                <a16:creationId xmlns:a16="http://schemas.microsoft.com/office/drawing/2014/main" id="{9820BD8D-870D-6466-F48D-785B3DEF620A}"/>
              </a:ext>
            </a:extLst>
          </p:cNvPr>
          <p:cNvSpPr/>
          <p:nvPr/>
        </p:nvSpPr>
        <p:spPr>
          <a:xfrm>
            <a:off x="2854972" y="6171722"/>
            <a:ext cx="350833" cy="439994"/>
          </a:xfrm>
          <a:prstGeom prst="rect">
            <a:avLst/>
          </a:prstGeom>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65" name="TextBox 64">
            <a:extLst>
              <a:ext uri="{FF2B5EF4-FFF2-40B4-BE49-F238E27FC236}">
                <a16:creationId xmlns:a16="http://schemas.microsoft.com/office/drawing/2014/main" id="{960A4C83-B529-F353-C15D-04EE326A74C6}"/>
              </a:ext>
            </a:extLst>
          </p:cNvPr>
          <p:cNvSpPr txBox="1"/>
          <p:nvPr/>
        </p:nvSpPr>
        <p:spPr>
          <a:xfrm>
            <a:off x="125926" y="3953537"/>
            <a:ext cx="521444" cy="307777"/>
          </a:xfrm>
          <a:prstGeom prst="rect">
            <a:avLst/>
          </a:prstGeom>
          <a:noFill/>
        </p:spPr>
        <p:txBody>
          <a:bodyPr wrap="square" rtlCol="0">
            <a:spAutoFit/>
          </a:bodyPr>
          <a:lstStyle/>
          <a:p>
            <a:r>
              <a:rPr lang="en-GB" sz="1400"/>
              <a:t>1.</a:t>
            </a:r>
          </a:p>
        </p:txBody>
      </p:sp>
      <p:sp>
        <p:nvSpPr>
          <p:cNvPr id="66" name="TextBox 65">
            <a:extLst>
              <a:ext uri="{FF2B5EF4-FFF2-40B4-BE49-F238E27FC236}">
                <a16:creationId xmlns:a16="http://schemas.microsoft.com/office/drawing/2014/main" id="{997396DC-AA50-FFC5-8C4C-56244EEF8A77}"/>
              </a:ext>
            </a:extLst>
          </p:cNvPr>
          <p:cNvSpPr txBox="1"/>
          <p:nvPr/>
        </p:nvSpPr>
        <p:spPr>
          <a:xfrm>
            <a:off x="135758" y="4531209"/>
            <a:ext cx="521444" cy="307777"/>
          </a:xfrm>
          <a:prstGeom prst="rect">
            <a:avLst/>
          </a:prstGeom>
          <a:noFill/>
        </p:spPr>
        <p:txBody>
          <a:bodyPr wrap="square" rtlCol="0">
            <a:spAutoFit/>
          </a:bodyPr>
          <a:lstStyle/>
          <a:p>
            <a:r>
              <a:rPr lang="en-GB" sz="1400"/>
              <a:t>2.</a:t>
            </a:r>
          </a:p>
        </p:txBody>
      </p:sp>
      <p:sp>
        <p:nvSpPr>
          <p:cNvPr id="67" name="TextBox 66">
            <a:extLst>
              <a:ext uri="{FF2B5EF4-FFF2-40B4-BE49-F238E27FC236}">
                <a16:creationId xmlns:a16="http://schemas.microsoft.com/office/drawing/2014/main" id="{97894D35-1694-797A-2897-F49FE25435D5}"/>
              </a:ext>
            </a:extLst>
          </p:cNvPr>
          <p:cNvSpPr txBox="1"/>
          <p:nvPr/>
        </p:nvSpPr>
        <p:spPr>
          <a:xfrm>
            <a:off x="140663" y="5069691"/>
            <a:ext cx="521444" cy="307777"/>
          </a:xfrm>
          <a:prstGeom prst="rect">
            <a:avLst/>
          </a:prstGeom>
          <a:noFill/>
        </p:spPr>
        <p:txBody>
          <a:bodyPr wrap="square" rtlCol="0">
            <a:spAutoFit/>
          </a:bodyPr>
          <a:lstStyle/>
          <a:p>
            <a:r>
              <a:rPr lang="en-GB" sz="1400"/>
              <a:t>3.</a:t>
            </a:r>
          </a:p>
        </p:txBody>
      </p:sp>
      <p:sp>
        <p:nvSpPr>
          <p:cNvPr id="68" name="TextBox 67">
            <a:extLst>
              <a:ext uri="{FF2B5EF4-FFF2-40B4-BE49-F238E27FC236}">
                <a16:creationId xmlns:a16="http://schemas.microsoft.com/office/drawing/2014/main" id="{8CF1D43B-5845-1421-61A6-454A12EE2681}"/>
              </a:ext>
            </a:extLst>
          </p:cNvPr>
          <p:cNvSpPr txBox="1"/>
          <p:nvPr/>
        </p:nvSpPr>
        <p:spPr>
          <a:xfrm>
            <a:off x="142222" y="5638323"/>
            <a:ext cx="521444" cy="307777"/>
          </a:xfrm>
          <a:prstGeom prst="rect">
            <a:avLst/>
          </a:prstGeom>
          <a:noFill/>
        </p:spPr>
        <p:txBody>
          <a:bodyPr wrap="square" rtlCol="0">
            <a:spAutoFit/>
          </a:bodyPr>
          <a:lstStyle/>
          <a:p>
            <a:r>
              <a:rPr lang="en-GB" sz="1400"/>
              <a:t>4.</a:t>
            </a:r>
          </a:p>
        </p:txBody>
      </p:sp>
      <p:sp>
        <p:nvSpPr>
          <p:cNvPr id="69" name="TextBox 68">
            <a:extLst>
              <a:ext uri="{FF2B5EF4-FFF2-40B4-BE49-F238E27FC236}">
                <a16:creationId xmlns:a16="http://schemas.microsoft.com/office/drawing/2014/main" id="{83D4DF90-4C84-4DAD-5EA2-6B50BD01456E}"/>
              </a:ext>
            </a:extLst>
          </p:cNvPr>
          <p:cNvSpPr txBox="1"/>
          <p:nvPr/>
        </p:nvSpPr>
        <p:spPr>
          <a:xfrm>
            <a:off x="142222" y="6211546"/>
            <a:ext cx="521444" cy="307777"/>
          </a:xfrm>
          <a:prstGeom prst="rect">
            <a:avLst/>
          </a:prstGeom>
          <a:noFill/>
        </p:spPr>
        <p:txBody>
          <a:bodyPr wrap="square" rtlCol="0">
            <a:spAutoFit/>
          </a:bodyPr>
          <a:lstStyle/>
          <a:p>
            <a:r>
              <a:rPr lang="en-GB" sz="1400"/>
              <a:t>5.</a:t>
            </a:r>
          </a:p>
        </p:txBody>
      </p:sp>
      <p:sp>
        <p:nvSpPr>
          <p:cNvPr id="70" name="TextBox 69">
            <a:extLst>
              <a:ext uri="{FF2B5EF4-FFF2-40B4-BE49-F238E27FC236}">
                <a16:creationId xmlns:a16="http://schemas.microsoft.com/office/drawing/2014/main" id="{63BF8758-8F1B-C785-2FB6-34FDCC6099F0}"/>
              </a:ext>
            </a:extLst>
          </p:cNvPr>
          <p:cNvSpPr txBox="1"/>
          <p:nvPr/>
        </p:nvSpPr>
        <p:spPr>
          <a:xfrm>
            <a:off x="3641169" y="331738"/>
            <a:ext cx="1638718" cy="276999"/>
          </a:xfrm>
          <a:prstGeom prst="rect">
            <a:avLst/>
          </a:prstGeom>
          <a:noFill/>
        </p:spPr>
        <p:txBody>
          <a:bodyPr wrap="none" rtlCol="0">
            <a:spAutoFit/>
          </a:bodyPr>
          <a:lstStyle/>
          <a:p>
            <a:r>
              <a:rPr lang="en-GB" sz="1200"/>
              <a:t>Others say that I’m…</a:t>
            </a:r>
          </a:p>
        </p:txBody>
      </p:sp>
      <p:sp>
        <p:nvSpPr>
          <p:cNvPr id="79" name="TextBox 78">
            <a:extLst>
              <a:ext uri="{FF2B5EF4-FFF2-40B4-BE49-F238E27FC236}">
                <a16:creationId xmlns:a16="http://schemas.microsoft.com/office/drawing/2014/main" id="{C33FA8BE-DE22-0A66-F3C5-25D527D55C56}"/>
              </a:ext>
            </a:extLst>
          </p:cNvPr>
          <p:cNvSpPr txBox="1"/>
          <p:nvPr/>
        </p:nvSpPr>
        <p:spPr>
          <a:xfrm>
            <a:off x="5718802" y="2470345"/>
            <a:ext cx="1734899" cy="276999"/>
          </a:xfrm>
          <a:prstGeom prst="rect">
            <a:avLst/>
          </a:prstGeom>
          <a:noFill/>
        </p:spPr>
        <p:txBody>
          <a:bodyPr wrap="none" rtlCol="0">
            <a:spAutoFit/>
          </a:bodyPr>
          <a:lstStyle/>
          <a:p>
            <a:r>
              <a:rPr lang="en-GB" sz="1200"/>
              <a:t>I’m at my worst when..</a:t>
            </a:r>
          </a:p>
        </p:txBody>
      </p:sp>
      <p:sp>
        <p:nvSpPr>
          <p:cNvPr id="80" name="TextBox 79">
            <a:extLst>
              <a:ext uri="{FF2B5EF4-FFF2-40B4-BE49-F238E27FC236}">
                <a16:creationId xmlns:a16="http://schemas.microsoft.com/office/drawing/2014/main" id="{729A03FF-CE70-A9F0-1CFE-34703785D3E7}"/>
              </a:ext>
            </a:extLst>
          </p:cNvPr>
          <p:cNvSpPr txBox="1"/>
          <p:nvPr/>
        </p:nvSpPr>
        <p:spPr>
          <a:xfrm>
            <a:off x="5718802" y="4648839"/>
            <a:ext cx="1893807" cy="276999"/>
          </a:xfrm>
          <a:prstGeom prst="rect">
            <a:avLst/>
          </a:prstGeom>
          <a:noFill/>
        </p:spPr>
        <p:txBody>
          <a:bodyPr wrap="square" rtlCol="0">
            <a:spAutoFit/>
          </a:bodyPr>
          <a:lstStyle/>
          <a:p>
            <a:r>
              <a:rPr lang="en-GB" sz="1200"/>
              <a:t>Q2</a:t>
            </a:r>
          </a:p>
        </p:txBody>
      </p:sp>
      <p:sp>
        <p:nvSpPr>
          <p:cNvPr id="81" name="TextBox 80">
            <a:extLst>
              <a:ext uri="{FF2B5EF4-FFF2-40B4-BE49-F238E27FC236}">
                <a16:creationId xmlns:a16="http://schemas.microsoft.com/office/drawing/2014/main" id="{A90C3C54-E591-5F6D-FDF8-44ED92204EFE}"/>
              </a:ext>
            </a:extLst>
          </p:cNvPr>
          <p:cNvSpPr txBox="1"/>
          <p:nvPr/>
        </p:nvSpPr>
        <p:spPr>
          <a:xfrm>
            <a:off x="7789837" y="4648839"/>
            <a:ext cx="1893807" cy="276999"/>
          </a:xfrm>
          <a:prstGeom prst="rect">
            <a:avLst/>
          </a:prstGeom>
          <a:noFill/>
        </p:spPr>
        <p:txBody>
          <a:bodyPr wrap="square" rtlCol="0">
            <a:spAutoFit/>
          </a:bodyPr>
          <a:lstStyle/>
          <a:p>
            <a:r>
              <a:rPr lang="en-GB" sz="1200"/>
              <a:t>Q3</a:t>
            </a:r>
          </a:p>
        </p:txBody>
      </p:sp>
    </p:spTree>
    <p:extLst>
      <p:ext uri="{BB962C8B-B14F-4D97-AF65-F5344CB8AC3E}">
        <p14:creationId xmlns:p14="http://schemas.microsoft.com/office/powerpoint/2010/main" val="188888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430D65B-16F8-EBF8-FC76-AD53BD57EEA5}"/>
              </a:ext>
            </a:extLst>
          </p:cNvPr>
          <p:cNvGraphicFramePr>
            <a:graphicFrameLocks noGrp="1"/>
          </p:cNvGraphicFramePr>
          <p:nvPr/>
        </p:nvGraphicFramePr>
        <p:xfrm>
          <a:off x="953453" y="4043675"/>
          <a:ext cx="3380423" cy="1807848"/>
        </p:xfrm>
        <a:graphic>
          <a:graphicData uri="http://schemas.openxmlformats.org/drawingml/2006/table">
            <a:tbl>
              <a:tblPr firstRow="1" bandRow="1">
                <a:tableStyleId>{5C22544A-7EE6-4342-B048-85BDC9FD1C3A}</a:tableStyleId>
              </a:tblPr>
              <a:tblGrid>
                <a:gridCol w="2003213">
                  <a:extLst>
                    <a:ext uri="{9D8B030D-6E8A-4147-A177-3AD203B41FA5}">
                      <a16:colId xmlns:a16="http://schemas.microsoft.com/office/drawing/2014/main" val="3719578585"/>
                    </a:ext>
                  </a:extLst>
                </a:gridCol>
                <a:gridCol w="262922">
                  <a:extLst>
                    <a:ext uri="{9D8B030D-6E8A-4147-A177-3AD203B41FA5}">
                      <a16:colId xmlns:a16="http://schemas.microsoft.com/office/drawing/2014/main" val="2516352688"/>
                    </a:ext>
                  </a:extLst>
                </a:gridCol>
                <a:gridCol w="275442">
                  <a:extLst>
                    <a:ext uri="{9D8B030D-6E8A-4147-A177-3AD203B41FA5}">
                      <a16:colId xmlns:a16="http://schemas.microsoft.com/office/drawing/2014/main" val="2412580535"/>
                    </a:ext>
                  </a:extLst>
                </a:gridCol>
                <a:gridCol w="275442">
                  <a:extLst>
                    <a:ext uri="{9D8B030D-6E8A-4147-A177-3AD203B41FA5}">
                      <a16:colId xmlns:a16="http://schemas.microsoft.com/office/drawing/2014/main" val="2713029512"/>
                    </a:ext>
                  </a:extLst>
                </a:gridCol>
                <a:gridCol w="300482">
                  <a:extLst>
                    <a:ext uri="{9D8B030D-6E8A-4147-A177-3AD203B41FA5}">
                      <a16:colId xmlns:a16="http://schemas.microsoft.com/office/drawing/2014/main" val="2666675597"/>
                    </a:ext>
                  </a:extLst>
                </a:gridCol>
                <a:gridCol w="262922">
                  <a:extLst>
                    <a:ext uri="{9D8B030D-6E8A-4147-A177-3AD203B41FA5}">
                      <a16:colId xmlns:a16="http://schemas.microsoft.com/office/drawing/2014/main" val="4047692408"/>
                    </a:ext>
                  </a:extLst>
                </a:gridCol>
              </a:tblGrid>
              <a:tr h="301308">
                <a:tc gridSpan="6">
                  <a:txBody>
                    <a:bodyPr/>
                    <a:lstStyle/>
                    <a:p>
                      <a:r>
                        <a:rPr lang="en-GB" sz="1200" dirty="0"/>
                        <a:t>Will</a:t>
                      </a:r>
                    </a:p>
                  </a:txBody>
                  <a:tcPr marL="74295" marR="74295" marT="37148" marB="37148"/>
                </a:tc>
                <a:tc hMerge="1">
                  <a:txBody>
                    <a:bodyPr/>
                    <a:lstStyle/>
                    <a:p>
                      <a:endParaRPr lang="en-GB" dirty="0"/>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dirty="0"/>
                    </a:p>
                  </a:txBody>
                  <a:tcPr/>
                </a:tc>
                <a:extLst>
                  <a:ext uri="{0D108BD9-81ED-4DB2-BD59-A6C34878D82A}">
                    <a16:rowId xmlns:a16="http://schemas.microsoft.com/office/drawing/2014/main" val="2647348068"/>
                  </a:ext>
                </a:extLst>
              </a:tr>
              <a:tr h="301308">
                <a:tc>
                  <a:txBody>
                    <a:bodyPr/>
                    <a:lstStyle/>
                    <a:p>
                      <a:r>
                        <a:rPr lang="en-GB" sz="1200" dirty="0"/>
                        <a:t>Java</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a:p>
                  </a:txBody>
                  <a:tcPr marL="74295" marR="74295" marT="37148" marB="37148"/>
                </a:tc>
                <a:extLst>
                  <a:ext uri="{0D108BD9-81ED-4DB2-BD59-A6C34878D82A}">
                    <a16:rowId xmlns:a16="http://schemas.microsoft.com/office/drawing/2014/main" val="4003713734"/>
                  </a:ext>
                </a:extLst>
              </a:tr>
              <a:tr h="301308">
                <a:tc>
                  <a:txBody>
                    <a:bodyPr/>
                    <a:lstStyle/>
                    <a:p>
                      <a:r>
                        <a:rPr lang="en-GB" sz="1200" dirty="0"/>
                        <a:t>Testing</a:t>
                      </a:r>
                    </a:p>
                  </a:txBody>
                  <a:tcPr marL="74295" marR="74295" marT="37148" marB="37148"/>
                </a:tc>
                <a:tc>
                  <a:txBody>
                    <a:bodyPr/>
                    <a:lstStyle/>
                    <a:p>
                      <a:endParaRPr lang="en-GB" sz="1200"/>
                    </a:p>
                  </a:txBody>
                  <a:tcPr marL="74295" marR="74295" marT="37148" marB="37148"/>
                </a:tc>
                <a:tc>
                  <a:txBody>
                    <a:bodyPr/>
                    <a:lstStyle/>
                    <a:p>
                      <a:endParaRPr lang="en-GB" sz="1200" dirty="0"/>
                    </a:p>
                  </a:txBody>
                  <a:tcPr marL="74295" marR="74295" marT="37148" marB="37148"/>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dirty="0"/>
                    </a:p>
                  </a:txBody>
                  <a:tcPr marL="74295" marR="74295" marT="37148" marB="37148"/>
                </a:tc>
                <a:extLst>
                  <a:ext uri="{0D108BD9-81ED-4DB2-BD59-A6C34878D82A}">
                    <a16:rowId xmlns:a16="http://schemas.microsoft.com/office/drawing/2014/main" val="2050257795"/>
                  </a:ext>
                </a:extLst>
              </a:tr>
              <a:tr h="301308">
                <a:tc>
                  <a:txBody>
                    <a:bodyPr/>
                    <a:lstStyle/>
                    <a:p>
                      <a:r>
                        <a:rPr lang="en-GB" sz="1200" dirty="0"/>
                        <a:t>Coffee Brewing</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dirty="0"/>
                    </a:p>
                  </a:txBody>
                  <a:tcPr marL="74295" marR="74295" marT="37148" marB="37148"/>
                </a:tc>
                <a:extLst>
                  <a:ext uri="{0D108BD9-81ED-4DB2-BD59-A6C34878D82A}">
                    <a16:rowId xmlns:a16="http://schemas.microsoft.com/office/drawing/2014/main" val="1394987063"/>
                  </a:ext>
                </a:extLst>
              </a:tr>
              <a:tr h="301308">
                <a:tc>
                  <a:txBody>
                    <a:bodyPr/>
                    <a:lstStyle/>
                    <a:p>
                      <a:r>
                        <a:rPr lang="en-GB" sz="1200" dirty="0"/>
                        <a:t>Teamwork</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extLst>
                  <a:ext uri="{0D108BD9-81ED-4DB2-BD59-A6C34878D82A}">
                    <a16:rowId xmlns:a16="http://schemas.microsoft.com/office/drawing/2014/main" val="209368645"/>
                  </a:ext>
                </a:extLst>
              </a:tr>
              <a:tr h="301308">
                <a:tc>
                  <a:txBody>
                    <a:bodyPr/>
                    <a:lstStyle/>
                    <a:p>
                      <a:r>
                        <a:rPr lang="en-GB" sz="1200" dirty="0"/>
                        <a:t>User understanding</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solidFill>
                      <a:schemeClr val="accent2"/>
                    </a:solidFill>
                  </a:tcPr>
                </a:tc>
                <a:tc>
                  <a:txBody>
                    <a:bodyPr/>
                    <a:lstStyle/>
                    <a:p>
                      <a:endParaRPr lang="en-GB" sz="120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extLst>
                  <a:ext uri="{0D108BD9-81ED-4DB2-BD59-A6C34878D82A}">
                    <a16:rowId xmlns:a16="http://schemas.microsoft.com/office/drawing/2014/main" val="3207675203"/>
                  </a:ext>
                </a:extLst>
              </a:tr>
            </a:tbl>
          </a:graphicData>
        </a:graphic>
      </p:graphicFrame>
      <p:graphicFrame>
        <p:nvGraphicFramePr>
          <p:cNvPr id="5" name="Table 4">
            <a:extLst>
              <a:ext uri="{FF2B5EF4-FFF2-40B4-BE49-F238E27FC236}">
                <a16:creationId xmlns:a16="http://schemas.microsoft.com/office/drawing/2014/main" id="{9DAD2C5C-F8EC-DC1E-1BD9-D5B8A4AE0DA2}"/>
              </a:ext>
            </a:extLst>
          </p:cNvPr>
          <p:cNvGraphicFramePr>
            <a:graphicFrameLocks noGrp="1"/>
          </p:cNvGraphicFramePr>
          <p:nvPr/>
        </p:nvGraphicFramePr>
        <p:xfrm>
          <a:off x="5386389" y="4043675"/>
          <a:ext cx="3380423" cy="1807848"/>
        </p:xfrm>
        <a:graphic>
          <a:graphicData uri="http://schemas.openxmlformats.org/drawingml/2006/table">
            <a:tbl>
              <a:tblPr firstRow="1" bandRow="1">
                <a:tableStyleId>{5C22544A-7EE6-4342-B048-85BDC9FD1C3A}</a:tableStyleId>
              </a:tblPr>
              <a:tblGrid>
                <a:gridCol w="2003213">
                  <a:extLst>
                    <a:ext uri="{9D8B030D-6E8A-4147-A177-3AD203B41FA5}">
                      <a16:colId xmlns:a16="http://schemas.microsoft.com/office/drawing/2014/main" val="3719578585"/>
                    </a:ext>
                  </a:extLst>
                </a:gridCol>
                <a:gridCol w="262922">
                  <a:extLst>
                    <a:ext uri="{9D8B030D-6E8A-4147-A177-3AD203B41FA5}">
                      <a16:colId xmlns:a16="http://schemas.microsoft.com/office/drawing/2014/main" val="2516352688"/>
                    </a:ext>
                  </a:extLst>
                </a:gridCol>
                <a:gridCol w="275442">
                  <a:extLst>
                    <a:ext uri="{9D8B030D-6E8A-4147-A177-3AD203B41FA5}">
                      <a16:colId xmlns:a16="http://schemas.microsoft.com/office/drawing/2014/main" val="2412580535"/>
                    </a:ext>
                  </a:extLst>
                </a:gridCol>
                <a:gridCol w="275442">
                  <a:extLst>
                    <a:ext uri="{9D8B030D-6E8A-4147-A177-3AD203B41FA5}">
                      <a16:colId xmlns:a16="http://schemas.microsoft.com/office/drawing/2014/main" val="2713029512"/>
                    </a:ext>
                  </a:extLst>
                </a:gridCol>
                <a:gridCol w="300482">
                  <a:extLst>
                    <a:ext uri="{9D8B030D-6E8A-4147-A177-3AD203B41FA5}">
                      <a16:colId xmlns:a16="http://schemas.microsoft.com/office/drawing/2014/main" val="2666675597"/>
                    </a:ext>
                  </a:extLst>
                </a:gridCol>
                <a:gridCol w="262922">
                  <a:extLst>
                    <a:ext uri="{9D8B030D-6E8A-4147-A177-3AD203B41FA5}">
                      <a16:colId xmlns:a16="http://schemas.microsoft.com/office/drawing/2014/main" val="4047692408"/>
                    </a:ext>
                  </a:extLst>
                </a:gridCol>
              </a:tblGrid>
              <a:tr h="301308">
                <a:tc gridSpan="6">
                  <a:txBody>
                    <a:bodyPr/>
                    <a:lstStyle/>
                    <a:p>
                      <a:r>
                        <a:rPr lang="en-GB" sz="1200" dirty="0"/>
                        <a:t>Gary</a:t>
                      </a:r>
                    </a:p>
                  </a:txBody>
                  <a:tcPr marL="74295" marR="74295" marT="37148" marB="37148"/>
                </a:tc>
                <a:tc hMerge="1">
                  <a:txBody>
                    <a:bodyPr/>
                    <a:lstStyle/>
                    <a:p>
                      <a:endParaRPr lang="en-GB" dirty="0"/>
                    </a:p>
                  </a:txBody>
                  <a:tcPr/>
                </a:tc>
                <a:tc hMerge="1">
                  <a:txBody>
                    <a:bodyPr/>
                    <a:lstStyle/>
                    <a:p>
                      <a:endParaRPr lang="en-GB"/>
                    </a:p>
                  </a:txBody>
                  <a:tcPr/>
                </a:tc>
                <a:tc hMerge="1">
                  <a:txBody>
                    <a:bodyPr/>
                    <a:lstStyle/>
                    <a:p>
                      <a:endParaRPr lang="en-GB" dirty="0"/>
                    </a:p>
                  </a:txBody>
                  <a:tcPr/>
                </a:tc>
                <a:tc hMerge="1">
                  <a:txBody>
                    <a:bodyPr/>
                    <a:lstStyle/>
                    <a:p>
                      <a:endParaRPr lang="en-GB"/>
                    </a:p>
                  </a:txBody>
                  <a:tcPr/>
                </a:tc>
                <a:tc hMerge="1">
                  <a:txBody>
                    <a:bodyPr/>
                    <a:lstStyle/>
                    <a:p>
                      <a:endParaRPr lang="en-GB" dirty="0"/>
                    </a:p>
                  </a:txBody>
                  <a:tcPr/>
                </a:tc>
                <a:extLst>
                  <a:ext uri="{0D108BD9-81ED-4DB2-BD59-A6C34878D82A}">
                    <a16:rowId xmlns:a16="http://schemas.microsoft.com/office/drawing/2014/main" val="2647348068"/>
                  </a:ext>
                </a:extLst>
              </a:tr>
              <a:tr h="301308">
                <a:tc>
                  <a:txBody>
                    <a:bodyPr/>
                    <a:lstStyle/>
                    <a:p>
                      <a:r>
                        <a:rPr lang="en-GB" sz="1200" dirty="0"/>
                        <a:t>Java</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tc>
                <a:tc>
                  <a:txBody>
                    <a:bodyPr/>
                    <a:lstStyle/>
                    <a:p>
                      <a:endParaRPr lang="en-GB" sz="1200"/>
                    </a:p>
                  </a:txBody>
                  <a:tcPr marL="74295" marR="74295" marT="37148" marB="37148"/>
                </a:tc>
                <a:extLst>
                  <a:ext uri="{0D108BD9-81ED-4DB2-BD59-A6C34878D82A}">
                    <a16:rowId xmlns:a16="http://schemas.microsoft.com/office/drawing/2014/main" val="4003713734"/>
                  </a:ext>
                </a:extLst>
              </a:tr>
              <a:tr h="301308">
                <a:tc>
                  <a:txBody>
                    <a:bodyPr/>
                    <a:lstStyle/>
                    <a:p>
                      <a:r>
                        <a:rPr lang="en-GB" sz="1200" dirty="0"/>
                        <a:t>Testing</a:t>
                      </a:r>
                    </a:p>
                  </a:txBody>
                  <a:tcPr marL="74295" marR="74295" marT="37148" marB="37148"/>
                </a:tc>
                <a:tc>
                  <a:txBody>
                    <a:bodyPr/>
                    <a:lstStyle/>
                    <a:p>
                      <a:endParaRPr lang="en-GB" sz="120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a:p>
                  </a:txBody>
                  <a:tcPr marL="74295" marR="74295" marT="37148" marB="37148"/>
                </a:tc>
                <a:extLst>
                  <a:ext uri="{0D108BD9-81ED-4DB2-BD59-A6C34878D82A}">
                    <a16:rowId xmlns:a16="http://schemas.microsoft.com/office/drawing/2014/main" val="2050257795"/>
                  </a:ext>
                </a:extLst>
              </a:tr>
              <a:tr h="301308">
                <a:tc>
                  <a:txBody>
                    <a:bodyPr/>
                    <a:lstStyle/>
                    <a:p>
                      <a:r>
                        <a:rPr lang="en-GB" sz="1200" dirty="0"/>
                        <a:t>Coffee Brewing</a:t>
                      </a:r>
                    </a:p>
                  </a:txBody>
                  <a:tcPr marL="74295" marR="74295" marT="37148" marB="37148"/>
                </a:tc>
                <a:tc>
                  <a:txBody>
                    <a:bodyPr/>
                    <a:lstStyle/>
                    <a:p>
                      <a:endParaRPr lang="en-GB" sz="120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dirty="0"/>
                    </a:p>
                  </a:txBody>
                  <a:tcPr marL="74295" marR="74295" marT="37148" marB="37148"/>
                </a:tc>
                <a:extLst>
                  <a:ext uri="{0D108BD9-81ED-4DB2-BD59-A6C34878D82A}">
                    <a16:rowId xmlns:a16="http://schemas.microsoft.com/office/drawing/2014/main" val="1394987063"/>
                  </a:ext>
                </a:extLst>
              </a:tr>
              <a:tr h="301308">
                <a:tc>
                  <a:txBody>
                    <a:bodyPr/>
                    <a:lstStyle/>
                    <a:p>
                      <a:r>
                        <a:rPr lang="en-GB" sz="1200" dirty="0"/>
                        <a:t>Teamwork</a:t>
                      </a:r>
                    </a:p>
                  </a:txBody>
                  <a:tcPr marL="74295" marR="74295" marT="37148" marB="37148"/>
                </a:tc>
                <a:tc>
                  <a:txBody>
                    <a:bodyPr/>
                    <a:lstStyle/>
                    <a:p>
                      <a:endParaRPr lang="en-GB" sz="120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tc>
                <a:tc>
                  <a:txBody>
                    <a:bodyPr/>
                    <a:lstStyle/>
                    <a:p>
                      <a:endParaRPr lang="en-GB" sz="1200"/>
                    </a:p>
                  </a:txBody>
                  <a:tcPr marL="74295" marR="74295" marT="37148" marB="37148"/>
                </a:tc>
                <a:extLst>
                  <a:ext uri="{0D108BD9-81ED-4DB2-BD59-A6C34878D82A}">
                    <a16:rowId xmlns:a16="http://schemas.microsoft.com/office/drawing/2014/main" val="209368645"/>
                  </a:ext>
                </a:extLst>
              </a:tr>
              <a:tr h="301308">
                <a:tc>
                  <a:txBody>
                    <a:bodyPr/>
                    <a:lstStyle/>
                    <a:p>
                      <a:r>
                        <a:rPr lang="en-GB" sz="1200" dirty="0"/>
                        <a:t>User understanding</a:t>
                      </a:r>
                    </a:p>
                  </a:txBody>
                  <a:tcPr marL="74295" marR="74295" marT="37148" marB="37148"/>
                </a:tc>
                <a:tc>
                  <a:txBody>
                    <a:bodyPr/>
                    <a:lstStyle/>
                    <a:p>
                      <a:endParaRPr lang="en-GB" sz="1200" dirty="0"/>
                    </a:p>
                  </a:txBody>
                  <a:tcPr marL="74295" marR="74295" marT="37148" marB="37148">
                    <a:solidFill>
                      <a:schemeClr val="accent2"/>
                    </a:solidFill>
                  </a:tcPr>
                </a:tc>
                <a:tc>
                  <a:txBody>
                    <a:bodyPr/>
                    <a:lstStyle/>
                    <a:p>
                      <a:endParaRPr lang="en-GB" sz="1200" dirty="0"/>
                    </a:p>
                  </a:txBody>
                  <a:tcPr marL="74295" marR="74295" marT="37148" marB="37148">
                    <a:solidFill>
                      <a:schemeClr val="accent2"/>
                    </a:solidFill>
                  </a:tcPr>
                </a:tc>
                <a:tc>
                  <a:txBody>
                    <a:bodyPr/>
                    <a:lstStyle/>
                    <a:p>
                      <a:endParaRPr lang="en-GB" sz="1200"/>
                    </a:p>
                  </a:txBody>
                  <a:tcPr marL="74295" marR="74295" marT="37148" marB="37148"/>
                </a:tc>
                <a:tc>
                  <a:txBody>
                    <a:bodyPr/>
                    <a:lstStyle/>
                    <a:p>
                      <a:endParaRPr lang="en-GB" sz="1200"/>
                    </a:p>
                  </a:txBody>
                  <a:tcPr marL="74295" marR="74295" marT="37148" marB="37148"/>
                </a:tc>
                <a:tc>
                  <a:txBody>
                    <a:bodyPr/>
                    <a:lstStyle/>
                    <a:p>
                      <a:endParaRPr lang="en-GB" sz="1200" dirty="0"/>
                    </a:p>
                  </a:txBody>
                  <a:tcPr marL="74295" marR="74295" marT="37148" marB="37148"/>
                </a:tc>
                <a:extLst>
                  <a:ext uri="{0D108BD9-81ED-4DB2-BD59-A6C34878D82A}">
                    <a16:rowId xmlns:a16="http://schemas.microsoft.com/office/drawing/2014/main" val="3207675203"/>
                  </a:ext>
                </a:extLst>
              </a:tr>
            </a:tbl>
          </a:graphicData>
        </a:graphic>
      </p:graphicFrame>
      <p:sp>
        <p:nvSpPr>
          <p:cNvPr id="7" name="TextBox 6">
            <a:extLst>
              <a:ext uri="{FF2B5EF4-FFF2-40B4-BE49-F238E27FC236}">
                <a16:creationId xmlns:a16="http://schemas.microsoft.com/office/drawing/2014/main" id="{6A4DC6C3-9785-20DC-7E72-1BC4BF7345A3}"/>
              </a:ext>
            </a:extLst>
          </p:cNvPr>
          <p:cNvSpPr txBox="1"/>
          <p:nvPr/>
        </p:nvSpPr>
        <p:spPr>
          <a:xfrm>
            <a:off x="656273" y="1190670"/>
            <a:ext cx="9163050" cy="2793842"/>
          </a:xfrm>
          <a:prstGeom prst="rect">
            <a:avLst/>
          </a:prstGeom>
          <a:noFill/>
        </p:spPr>
        <p:txBody>
          <a:bodyPr wrap="square">
            <a:spAutoFit/>
          </a:bodyPr>
          <a:lstStyle/>
          <a:p>
            <a:r>
              <a:rPr lang="en-GB" sz="1463" dirty="0"/>
              <a:t>Come up with a list of skills you think are important to the team. You can do this for the team, or get the group to come up with them. Each individual can then create a skill map by marking X boxes total across all skills to indicate their relative strengths and weaknesses.</a:t>
            </a:r>
            <a:br>
              <a:rPr lang="en-GB" sz="1463" dirty="0"/>
            </a:br>
            <a:endParaRPr lang="en-GB" sz="1463" dirty="0"/>
          </a:p>
          <a:p>
            <a:pPr>
              <a:buFont typeface="Arial" panose="020B0604020202020204" pitchFamily="34" charset="0"/>
              <a:buChar char="•"/>
            </a:pPr>
            <a:r>
              <a:rPr lang="en-GB" sz="1463" dirty="0"/>
              <a:t>X = (Total skills * 2) + (total skills / 2). This will give everyone (to few) points to add to the chart, and force everyone to highlight relative difference between their skills. See Example below, </a:t>
            </a:r>
            <a:r>
              <a:rPr lang="en-GB" sz="1463" u="sng" dirty="0"/>
              <a:t>This does not work as well if you don't limit the number </a:t>
            </a:r>
          </a:p>
          <a:p>
            <a:pPr>
              <a:buFont typeface="Arial" panose="020B0604020202020204" pitchFamily="34" charset="0"/>
              <a:buChar char="•"/>
            </a:pPr>
            <a:endParaRPr lang="en-GB" sz="1463" u="sng" dirty="0"/>
          </a:p>
          <a:p>
            <a:r>
              <a:rPr lang="en-GB" sz="1463" b="1" dirty="0"/>
              <a:t>Example </a:t>
            </a:r>
            <a:br>
              <a:rPr lang="en-GB" sz="1463" b="1" dirty="0"/>
            </a:br>
            <a:r>
              <a:rPr lang="en-GB" sz="1463" dirty="0"/>
              <a:t>The team highlighted 5 skills they thought were important. X = (5*2) + (5/2) = 12.5, so lets go 12.</a:t>
            </a:r>
          </a:p>
          <a:p>
            <a:r>
              <a:rPr lang="en-GB" sz="1463" dirty="0"/>
              <a:t>As you can see below, Even though Gary wants to say he is great at everything, the point limit forces him to highlight areas he is stronger or weaker in. By contrast, Will has shown bigger skill differences. </a:t>
            </a:r>
          </a:p>
        </p:txBody>
      </p:sp>
      <p:sp>
        <p:nvSpPr>
          <p:cNvPr id="8" name="TextBox 7">
            <a:extLst>
              <a:ext uri="{FF2B5EF4-FFF2-40B4-BE49-F238E27FC236}">
                <a16:creationId xmlns:a16="http://schemas.microsoft.com/office/drawing/2014/main" id="{B079483A-0C66-D25C-28CD-FC50C7868741}"/>
              </a:ext>
            </a:extLst>
          </p:cNvPr>
          <p:cNvSpPr txBox="1"/>
          <p:nvPr/>
        </p:nvSpPr>
        <p:spPr>
          <a:xfrm>
            <a:off x="656272" y="815567"/>
            <a:ext cx="2506264" cy="392415"/>
          </a:xfrm>
          <a:prstGeom prst="rect">
            <a:avLst/>
          </a:prstGeom>
          <a:noFill/>
        </p:spPr>
        <p:txBody>
          <a:bodyPr wrap="none" rtlCol="0">
            <a:spAutoFit/>
          </a:bodyPr>
          <a:lstStyle/>
          <a:p>
            <a:r>
              <a:rPr lang="en-GB" sz="1950" b="1" dirty="0"/>
              <a:t>Team Skills Activity</a:t>
            </a:r>
          </a:p>
        </p:txBody>
      </p:sp>
    </p:spTree>
    <p:extLst>
      <p:ext uri="{BB962C8B-B14F-4D97-AF65-F5344CB8AC3E}">
        <p14:creationId xmlns:p14="http://schemas.microsoft.com/office/powerpoint/2010/main" val="779285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E5669ED-95D4-457C-BBA8-BB4DF3B56DC1}" vid="{2978B058-213E-4291-97EB-B9ADEF7528C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93F9EDD2846E48BE29ECED16F956D3" ma:contentTypeVersion="17" ma:contentTypeDescription="Create a new document." ma:contentTypeScope="" ma:versionID="c509e0c7a27753ed117c0a620983f47c">
  <xsd:schema xmlns:xsd="http://www.w3.org/2001/XMLSchema" xmlns:xs="http://www.w3.org/2001/XMLSchema" xmlns:p="http://schemas.microsoft.com/office/2006/metadata/properties" xmlns:ns2="efec6a84-81b5-47a5-8d85-97a18d436dfa" xmlns:ns3="9518f24f-40b5-4986-bb0a-f2c0efed5748" targetNamespace="http://schemas.microsoft.com/office/2006/metadata/properties" ma:root="true" ma:fieldsID="e9e4c64f00b8925e86bef47167e4c985" ns2:_="" ns3:_="">
    <xsd:import namespace="efec6a84-81b5-47a5-8d85-97a18d436dfa"/>
    <xsd:import namespace="9518f24f-40b5-4986-bb0a-f2c0efed574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ec6a84-81b5-47a5-8d85-97a18d436d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4a952b2-d070-4b51-b764-aab03938024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518f24f-40b5-4986-bb0a-f2c0efed5748"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0cf87ee-af53-4e62-8456-38aeef21580f}" ma:internalName="TaxCatchAll" ma:showField="CatchAllData" ma:web="9518f24f-40b5-4986-bb0a-f2c0efed57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518f24f-40b5-4986-bb0a-f2c0efed5748" xsi:nil="true"/>
    <lcf76f155ced4ddcb4097134ff3c332f xmlns="efec6a84-81b5-47a5-8d85-97a18d436d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F28D0D-804F-417B-8044-56BC5649E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ec6a84-81b5-47a5-8d85-97a18d436dfa"/>
    <ds:schemaRef ds:uri="9518f24f-40b5-4986-bb0a-f2c0efed57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4BCB71-7FE1-46CC-8618-3C08D925B650}">
  <ds:schemaRefs>
    <ds:schemaRef ds:uri="http://schemas.microsoft.com/sharepoint/v3/contenttype/forms"/>
  </ds:schemaRefs>
</ds:datastoreItem>
</file>

<file path=customXml/itemProps3.xml><?xml version="1.0" encoding="utf-8"?>
<ds:datastoreItem xmlns:ds="http://schemas.openxmlformats.org/officeDocument/2006/customXml" ds:itemID="{93D0E2C0-BC65-45B3-B13E-4F51E1BD1B31}">
  <ds:schemaRefs>
    <ds:schemaRef ds:uri="http://schemas.microsoft.com/office/2006/metadata/properties"/>
    <ds:schemaRef ds:uri="http://schemas.microsoft.com/office/infopath/2007/PartnerControls"/>
    <ds:schemaRef ds:uri="9518f24f-40b5-4986-bb0a-f2c0efed5748"/>
    <ds:schemaRef ds:uri="efec6a84-81b5-47a5-8d85-97a18d436dfa"/>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266</Words>
  <Application>Microsoft Office PowerPoint</Application>
  <PresentationFormat>A4 Paper (210x297 mm)</PresentationFormat>
  <Paragraphs>34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ADLaM Display</vt:lpstr>
      <vt:lpstr>Arial</vt:lpstr>
      <vt:lpstr>Avenir Next LT Pro</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Hoad</dc:creator>
  <cp:lastModifiedBy>William Hoad</cp:lastModifiedBy>
  <cp:revision>2</cp:revision>
  <dcterms:created xsi:type="dcterms:W3CDTF">2025-12-09T16:07:15Z</dcterms:created>
  <dcterms:modified xsi:type="dcterms:W3CDTF">2026-07-15T15:22:10Z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0x010100A693F9EDD2846E48BE29ECED16F956D3</vt:lpwstr>
  </property>
</Properties>
</file>